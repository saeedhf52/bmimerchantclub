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 Titr Bold"/>
      <p:regular r:id="rId201314"/>
    </p:embeddedFont>
    <p:embeddedFont>
      <p:font typeface="IRANSansFaNum"/>
      <p:regular r:id="rId201316"/>
    </p:embeddedFont>
    <p:embeddedFont>
      <p:font typeface="IRANSansFaNum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2.png"/><Relationship Id="rId9" Type="http://schemas.openxmlformats.org/officeDocument/2006/relationships/image" Target="../media/image-7-3.sv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2.png"/><Relationship Id="rId11" Type="http://schemas.openxmlformats.org/officeDocument/2006/relationships/image" Target="../media/image-8-3.svg"/><Relationship Id="rId12" Type="http://schemas.openxmlformats.org/officeDocument/2006/relationships/image" Target="../media/image-8-12.png"/><Relationship Id="rId13" Type="http://schemas.openxmlformats.org/officeDocument/2006/relationships/image" Target="../media/image-8-13.svg"/><Relationship Id="rId14" Type="http://schemas.openxmlformats.org/officeDocument/2006/relationships/image" Target="../media/image-8-2.png"/><Relationship Id="rId15" Type="http://schemas.openxmlformats.org/officeDocument/2006/relationships/image" Target="../media/image-8-3.svg"/><Relationship Id="rId16" Type="http://schemas.openxmlformats.org/officeDocument/2006/relationships/image" Target="../media/image-8-16.png"/><Relationship Id="rId17" Type="http://schemas.openxmlformats.org/officeDocument/2006/relationships/image" Target="../media/image-8-17.svg"/><Relationship Id="rId18" Type="http://schemas.openxmlformats.org/officeDocument/2006/relationships/image" Target="../media/image-8-18.pn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image" Target="../media/image-9-1.png"/><Relationship Id="rId12" Type="http://schemas.openxmlformats.org/officeDocument/2006/relationships/image" Target="../media/image-9-2.svg"/><Relationship Id="rId13" Type="http://schemas.openxmlformats.org/officeDocument/2006/relationships/image" Target="../media/image-9-1.png"/><Relationship Id="rId14" Type="http://schemas.openxmlformats.org/officeDocument/2006/relationships/image" Target="../media/image-9-2.svg"/><Relationship Id="rId15" Type="http://schemas.openxmlformats.org/officeDocument/2006/relationships/image" Target="../media/image-9-15.jpe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01254" y="2508151"/>
            <a:ext cx="1357080" cy="287139"/>
          </a:xfrm>
          <a:prstGeom prst="roundRect">
            <a:avLst>
              <a:gd name="adj" fmla="val 22118"/>
            </a:avLst>
          </a:prstGeom>
          <a:solidFill>
            <a:srgbClr val="D2DDF9"/>
          </a:solidFill>
          <a:ln/>
        </p:spPr>
      </p:sp>
      <p:sp>
        <p:nvSpPr>
          <p:cNvPr id="4" name="Text 1"/>
          <p:cNvSpPr/>
          <p:nvPr/>
        </p:nvSpPr>
        <p:spPr>
          <a:xfrm>
            <a:off x="5105074" y="2564805"/>
            <a:ext cx="173985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fa-IR" altLang="en-US" sz="115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اکوسیستم دیجیتال</a:t>
            </a:r>
            <a:endParaRPr lang="fa-IR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8708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370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از شبکه پرداخت تا شبکه ارزش‌آفرین</a:t>
            </a:r>
            <a:endParaRPr lang="fa-IR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374501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fa-IR" altLang="en-US" sz="145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تبدیل شبکه پذیرندگان کارتخوان از یک شبکه پرداخت به یک اکوسیستم دیجیتال برای تعامل کسب‌وکارها و مشتریان</a:t>
            </a:r>
            <a:endParaRPr lang="fa-IR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95702" y="524371"/>
            <a:ext cx="934518" cy="233263"/>
          </a:xfrm>
          <a:prstGeom prst="roundRect">
            <a:avLst>
              <a:gd name="adj" fmla="val 22122"/>
            </a:avLst>
          </a:prstGeom>
          <a:noFill/>
          <a:ln w="6350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78190" y="570409"/>
            <a:ext cx="1359957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ar-SA" altLang="en-US" sz="950" dirty="0">
                <a:solidFill>
                  <a:srgbClr val="1B54DA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مسئله و فرصت</a:t>
            </a:r>
            <a:endParaRPr lang="ar-SA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07541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300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ظرفیت استفاده‌نشده‌ای که تبدیل به فرصت می‌شود</a:t>
            </a:r>
            <a:endParaRPr lang="fa-IR" sz="3000" dirty="0"/>
          </a:p>
        </p:txBody>
      </p:sp>
      <p:sp>
        <p:nvSpPr>
          <p:cNvPr id="5" name="Shape 3"/>
          <p:cNvSpPr/>
          <p:nvPr/>
        </p:nvSpPr>
        <p:spPr>
          <a:xfrm>
            <a:off x="550849" y="1474589"/>
            <a:ext cx="5468305" cy="1889423"/>
          </a:xfrm>
          <a:prstGeom prst="roundRect">
            <a:avLst>
              <a:gd name="adj" fmla="val 5852"/>
            </a:avLst>
          </a:prstGeom>
          <a:solidFill>
            <a:srgbClr val="091231"/>
          </a:solidFill>
          <a:ln/>
        </p:spPr>
      </p:sp>
      <p:sp>
        <p:nvSpPr>
          <p:cNvPr id="6" name="Text 4"/>
          <p:cNvSpPr/>
          <p:nvPr/>
        </p:nvSpPr>
        <p:spPr>
          <a:xfrm>
            <a:off x="704336" y="1599307"/>
            <a:ext cx="51613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500" b="1" dirty="0">
                <a:solidFill>
                  <a:srgbClr val="FFFFFF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وضعیت امروز</a:t>
            </a:r>
            <a:endParaRPr lang="fa-IR" sz="1500" dirty="0"/>
          </a:p>
        </p:txBody>
      </p:sp>
      <p:sp>
        <p:nvSpPr>
          <p:cNvPr id="7" name="Text 5"/>
          <p:cNvSpPr/>
          <p:nvPr/>
        </p:nvSpPr>
        <p:spPr>
          <a:xfrm>
            <a:off x="704336" y="1963936"/>
            <a:ext cx="5161329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fa-IR" altLang="en-US" sz="1200" dirty="0">
                <a:solidFill>
                  <a:srgbClr val="FFFFFF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شبکه بزرگی از پذیرندگان وجود دارد، اما بخش مهمی از ظرفیت این شبکه برای تعامل، بازاریابی و خلق ارزش استفاده نشده است.</a:t>
            </a:r>
            <a:endParaRPr lang="fa-IR" sz="1200" dirty="0"/>
          </a:p>
        </p:txBody>
      </p:sp>
      <p:sp>
        <p:nvSpPr>
          <p:cNvPr id="8" name="Text 6"/>
          <p:cNvSpPr/>
          <p:nvPr/>
        </p:nvSpPr>
        <p:spPr>
          <a:xfrm>
            <a:off x="6289518" y="1599307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50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فرصت پیش رو</a:t>
            </a:r>
            <a:endParaRPr lang="fa-IR" sz="1500" dirty="0"/>
          </a:p>
        </p:txBody>
      </p:sp>
      <p:sp>
        <p:nvSpPr>
          <p:cNvPr id="9" name="Text 7"/>
          <p:cNvSpPr/>
          <p:nvPr/>
        </p:nvSpPr>
        <p:spPr>
          <a:xfrm>
            <a:off x="5679933" y="1963936"/>
            <a:ext cx="585663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fa-IR" altLang="en-US" sz="12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همین شبکه می‌تواند علاوه بر پرداخت، به بستری برای موارد زیر تبدیل شود:</a:t>
            </a:r>
            <a:endParaRPr lang="fa-IR" sz="1200" dirty="0"/>
          </a:p>
        </p:txBody>
      </p:sp>
      <p:sp>
        <p:nvSpPr>
          <p:cNvPr id="10" name="Text 8"/>
          <p:cNvSpPr/>
          <p:nvPr/>
        </p:nvSpPr>
        <p:spPr>
          <a:xfrm>
            <a:off x="6289518" y="2298799"/>
            <a:ext cx="5247052" cy="1021556"/>
          </a:xfrm>
          <a:prstGeom prst="rect">
            <a:avLst/>
          </a:prstGeom>
          <a:noFill/>
          <a:ln/>
        </p:spPr>
        <p:txBody>
          <a:bodyPr wrap="square" lIns="0" tIns="0" rIns="61431" bIns="0" rtlCol="0" anchor="t">
            <a:normAutofit/>
          </a:bodyPr>
          <a:lstStyle/>
          <a:p>
            <a:pPr rtl="1" algn="r" marL="243840" indent="-243840">
              <a:lnSpc>
                <a:spcPct val="121000"/>
              </a:lnSpc>
              <a:buSzPct val="100000"/>
              <a:buChar char="•"/>
            </a:pPr>
            <a:r>
              <a:rPr lang="fa-IR" altLang="en-US" sz="12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معرفی کسب‌وکارها</a:t>
            </a:r>
            <a:endParaRPr lang="fa-IR" sz="1200" dirty="0"/>
          </a:p>
          <a:p>
            <a:pPr rtl="1" algn="r" marL="243840" indent="-243840">
              <a:lnSpc>
                <a:spcPct val="121000"/>
              </a:lnSpc>
              <a:buSzPct val="100000"/>
              <a:buChar char="•"/>
            </a:pPr>
            <a:r>
              <a:rPr lang="fa-IR" altLang="en-US" sz="12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پیشنهاد و تخفیف</a:t>
            </a:r>
            <a:endParaRPr lang="fa-IR" sz="1200" dirty="0"/>
          </a:p>
          <a:p>
            <a:pPr rtl="1" algn="r" marL="243840" indent="-243840">
              <a:lnSpc>
                <a:spcPct val="121000"/>
              </a:lnSpc>
              <a:buSzPct val="100000"/>
              <a:buChar char="•"/>
            </a:pPr>
            <a:r>
              <a:rPr lang="fa-IR" altLang="en-US" sz="12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کمپین و تعامل مشتری</a:t>
            </a:r>
            <a:endParaRPr lang="fa-IR" sz="1200" dirty="0"/>
          </a:p>
          <a:p>
            <a:pPr rtl="1" algn="r" marL="243840" indent="-243840">
              <a:lnSpc>
                <a:spcPct val="121000"/>
              </a:lnSpc>
              <a:buSzPct val="100000"/>
              <a:buChar char="•"/>
            </a:pPr>
            <a:r>
              <a:rPr lang="fa-IR" altLang="en-US" sz="12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داده و گزارش</a:t>
            </a:r>
            <a:endParaRPr lang="fa-IR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6652" y="3504307"/>
            <a:ext cx="9698390" cy="282932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99375" y="3939263"/>
            <a:ext cx="2445381" cy="305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9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شبکه پرداخت</a:t>
            </a:r>
            <a:endParaRPr lang="fa-IR" sz="1900" dirty="0"/>
          </a:p>
        </p:txBody>
      </p:sp>
      <p:sp>
        <p:nvSpPr>
          <p:cNvPr id="13" name="Text 10"/>
          <p:cNvSpPr/>
          <p:nvPr/>
        </p:nvSpPr>
        <p:spPr>
          <a:xfrm>
            <a:off x="3699375" y="4701595"/>
            <a:ext cx="2445381" cy="305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9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تبدیل به شبکه ارزش</a:t>
            </a:r>
            <a:endParaRPr lang="fa-IR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112" y="519807"/>
            <a:ext cx="290108" cy="143470"/>
          </a:xfrm>
          <a:prstGeom prst="roundRect">
            <a:avLst>
              <a:gd name="adj" fmla="val 22134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10687180" y="548084"/>
            <a:ext cx="786388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ar-SA" altLang="en-US" sz="55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راه‌حل</a:t>
            </a:r>
            <a:endParaRPr lang="ar-SA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85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یک اکوسیستم واحد برای پذیرنده و مشتری</a:t>
            </a:r>
            <a:endParaRPr lang="fa-IR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01328"/>
            <a:ext cx="5319083" cy="531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487" y="3609181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90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چرخه ارزش</a:t>
            </a:r>
            <a:endParaRPr lang="fa-IR" sz="900" dirty="0"/>
          </a:p>
        </p:txBody>
      </p:sp>
      <p:sp>
        <p:nvSpPr>
          <p:cNvPr id="7" name="Text 4"/>
          <p:cNvSpPr/>
          <p:nvPr/>
        </p:nvSpPr>
        <p:spPr>
          <a:xfrm>
            <a:off x="5607902" y="3804047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7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پذیرنده پیشنهاد ایجاد می‌کند، مشتری کشف و استفاده می‌کند و سازمان کل چرخه را مدیریت و اندازه‌گیری می‌کند.</a:t>
            </a:r>
            <a:endParaRPr lang="fa-IR" sz="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8790" y="6526709"/>
            <a:ext cx="3591430" cy="5036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5943" y="6633865"/>
            <a:ext cx="332632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9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پذیرنده</a:t>
            </a:r>
            <a:endParaRPr lang="fa-IR" sz="900" dirty="0"/>
          </a:p>
        </p:txBody>
      </p:sp>
      <p:sp>
        <p:nvSpPr>
          <p:cNvPr id="10" name="Text 6"/>
          <p:cNvSpPr/>
          <p:nvPr/>
        </p:nvSpPr>
        <p:spPr>
          <a:xfrm>
            <a:off x="8045943" y="6809780"/>
            <a:ext cx="332632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7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پیشنهاد می‌دهد</a:t>
            </a:r>
            <a:endParaRPr lang="fa-IR" sz="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0132" y="6526709"/>
            <a:ext cx="3591430" cy="5036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07286" y="6633865"/>
            <a:ext cx="332632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9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مشتری</a:t>
            </a:r>
            <a:endParaRPr lang="fa-IR" sz="900" dirty="0"/>
          </a:p>
        </p:txBody>
      </p:sp>
      <p:sp>
        <p:nvSpPr>
          <p:cNvPr id="13" name="Text 8"/>
          <p:cNvSpPr/>
          <p:nvPr/>
        </p:nvSpPr>
        <p:spPr>
          <a:xfrm>
            <a:off x="4407286" y="6809780"/>
            <a:ext cx="332632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7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کشف و استفاده می‌کند</a:t>
            </a:r>
            <a:endParaRPr lang="fa-IR" sz="7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6526709"/>
            <a:ext cx="3591430" cy="50363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8628" y="6633865"/>
            <a:ext cx="332632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9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سازمان</a:t>
            </a:r>
            <a:endParaRPr lang="ar-SA" sz="900" dirty="0"/>
          </a:p>
        </p:txBody>
      </p:sp>
      <p:sp>
        <p:nvSpPr>
          <p:cNvPr id="16" name="Text 10"/>
          <p:cNvSpPr/>
          <p:nvPr/>
        </p:nvSpPr>
        <p:spPr>
          <a:xfrm>
            <a:off x="768628" y="6809780"/>
            <a:ext cx="332632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7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مدیریت و اندازه‌گیری می‌کند</a:t>
            </a:r>
            <a:endParaRPr lang="fa-IR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6941" y="565448"/>
            <a:ext cx="1243279" cy="273645"/>
          </a:xfrm>
          <a:prstGeom prst="roundRect">
            <a:avLst>
              <a:gd name="adj" fmla="val 22121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9785403" y="619423"/>
            <a:ext cx="1636771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fa-IR" altLang="en-US" sz="11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ارزش برای سازمان</a:t>
            </a:r>
            <a:endParaRPr lang="fa-IR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07752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350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پنج دارایی جدید بر پایه شبکه موجود</a:t>
            </a:r>
            <a:endParaRPr lang="fa-IR" sz="3500" dirty="0"/>
          </a:p>
        </p:txBody>
      </p:sp>
      <p:sp>
        <p:nvSpPr>
          <p:cNvPr id="5" name="Shape 3"/>
          <p:cNvSpPr/>
          <p:nvPr/>
        </p:nvSpPr>
        <p:spPr>
          <a:xfrm>
            <a:off x="8021734" y="1728391"/>
            <a:ext cx="3508486" cy="1750913"/>
          </a:xfrm>
          <a:prstGeom prst="roundRect">
            <a:avLst>
              <a:gd name="adj" fmla="val 4322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03362" y="1914823"/>
            <a:ext cx="540431" cy="540445"/>
          </a:xfrm>
          <a:prstGeom prst="ellipse">
            <a:avLst/>
          </a:prstGeom>
          <a:solidFill>
            <a:srgbClr val="1B54D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1988" y="2063353"/>
            <a:ext cx="243179" cy="2431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08162" y="2626916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7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فعال‌سازی شبکه</a:t>
            </a:r>
            <a:endParaRPr lang="fa-IR" sz="1750" dirty="0"/>
          </a:p>
        </p:txBody>
      </p:sp>
      <p:sp>
        <p:nvSpPr>
          <p:cNvPr id="9" name="Text 6"/>
          <p:cNvSpPr/>
          <p:nvPr/>
        </p:nvSpPr>
        <p:spPr>
          <a:xfrm>
            <a:off x="8208162" y="3011388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fa-IR" altLang="en-US" sz="14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تبدیل پذیرنده به عضو فعال اکوسیستم</a:t>
            </a:r>
            <a:endParaRPr lang="fa-IR" sz="1400" dirty="0"/>
          </a:p>
        </p:txBody>
      </p:sp>
      <p:sp>
        <p:nvSpPr>
          <p:cNvPr id="10" name="Shape 7"/>
          <p:cNvSpPr/>
          <p:nvPr/>
        </p:nvSpPr>
        <p:spPr>
          <a:xfrm>
            <a:off x="4341605" y="1728391"/>
            <a:ext cx="3508486" cy="1750913"/>
          </a:xfrm>
          <a:prstGeom prst="roundRect">
            <a:avLst>
              <a:gd name="adj" fmla="val 4322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23232" y="1914823"/>
            <a:ext cx="540431" cy="540445"/>
          </a:xfrm>
          <a:prstGeom prst="ellipse">
            <a:avLst/>
          </a:prstGeom>
          <a:solidFill>
            <a:srgbClr val="1B54D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1858" y="2063353"/>
            <a:ext cx="243179" cy="24318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8032" y="2626916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7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تعامل مستمر</a:t>
            </a:r>
            <a:endParaRPr lang="ar-SA" sz="1750" dirty="0"/>
          </a:p>
        </p:txBody>
      </p:sp>
      <p:sp>
        <p:nvSpPr>
          <p:cNvPr id="14" name="Text 10"/>
          <p:cNvSpPr/>
          <p:nvPr/>
        </p:nvSpPr>
        <p:spPr>
          <a:xfrm>
            <a:off x="4528032" y="3011388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fa-IR" altLang="en-US" sz="14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ارتباط فراتر از عملیات پرداخت</a:t>
            </a:r>
            <a:endParaRPr lang="fa-IR" sz="1400" dirty="0"/>
          </a:p>
        </p:txBody>
      </p:sp>
      <p:sp>
        <p:nvSpPr>
          <p:cNvPr id="15" name="Shape 11"/>
          <p:cNvSpPr/>
          <p:nvPr/>
        </p:nvSpPr>
        <p:spPr>
          <a:xfrm>
            <a:off x="661475" y="1728391"/>
            <a:ext cx="3508486" cy="1750913"/>
          </a:xfrm>
          <a:prstGeom prst="roundRect">
            <a:avLst>
              <a:gd name="adj" fmla="val 4322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43102" y="1914823"/>
            <a:ext cx="540431" cy="540445"/>
          </a:xfrm>
          <a:prstGeom prst="ellipse">
            <a:avLst/>
          </a:prstGeom>
          <a:solidFill>
            <a:srgbClr val="1B54D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1728" y="2063353"/>
            <a:ext cx="243179" cy="24318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7902" y="2626916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7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ارزش و درآمد جدید</a:t>
            </a:r>
            <a:endParaRPr lang="fa-IR" sz="1750" dirty="0"/>
          </a:p>
        </p:txBody>
      </p:sp>
      <p:sp>
        <p:nvSpPr>
          <p:cNvPr id="19" name="Text 14"/>
          <p:cNvSpPr/>
          <p:nvPr/>
        </p:nvSpPr>
        <p:spPr>
          <a:xfrm>
            <a:off x="847902" y="3011388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fa-IR" altLang="en-US" sz="14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ظرفیت کمپین، تبلیغات و خدمات ویژه</a:t>
            </a:r>
            <a:endParaRPr lang="fa-IR" sz="1400" dirty="0"/>
          </a:p>
        </p:txBody>
      </p:sp>
      <p:sp>
        <p:nvSpPr>
          <p:cNvPr id="20" name="Shape 15"/>
          <p:cNvSpPr/>
          <p:nvPr/>
        </p:nvSpPr>
        <p:spPr>
          <a:xfrm>
            <a:off x="6181670" y="3650952"/>
            <a:ext cx="5348551" cy="1750913"/>
          </a:xfrm>
          <a:prstGeom prst="roundRect">
            <a:avLst>
              <a:gd name="adj" fmla="val 4322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803362" y="3837384"/>
            <a:ext cx="540431" cy="540445"/>
          </a:xfrm>
          <a:prstGeom prst="ellipse">
            <a:avLst/>
          </a:prstGeom>
          <a:solidFill>
            <a:srgbClr val="1B54D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51988" y="3985915"/>
            <a:ext cx="243179" cy="24318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68097" y="4549477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7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داده و هوشمندی</a:t>
            </a:r>
            <a:endParaRPr lang="fa-IR" sz="1750" dirty="0"/>
          </a:p>
        </p:txBody>
      </p:sp>
      <p:sp>
        <p:nvSpPr>
          <p:cNvPr id="24" name="Text 18"/>
          <p:cNvSpPr/>
          <p:nvPr/>
        </p:nvSpPr>
        <p:spPr>
          <a:xfrm>
            <a:off x="6368097" y="4933950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fa-IR" altLang="en-US" sz="14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اندازه‌گیری عملکرد پیشنهادها</a:t>
            </a:r>
            <a:endParaRPr lang="fa-IR" sz="1400" dirty="0"/>
          </a:p>
        </p:txBody>
      </p:sp>
      <p:sp>
        <p:nvSpPr>
          <p:cNvPr id="25" name="Shape 19"/>
          <p:cNvSpPr/>
          <p:nvPr/>
        </p:nvSpPr>
        <p:spPr>
          <a:xfrm>
            <a:off x="661475" y="3650952"/>
            <a:ext cx="5348551" cy="1750913"/>
          </a:xfrm>
          <a:prstGeom prst="roundRect">
            <a:avLst>
              <a:gd name="adj" fmla="val 4322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283167" y="3837384"/>
            <a:ext cx="540431" cy="540445"/>
          </a:xfrm>
          <a:prstGeom prst="ellipse">
            <a:avLst/>
          </a:prstGeom>
          <a:solidFill>
            <a:srgbClr val="1B54D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31793" y="3985915"/>
            <a:ext cx="243179" cy="24318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47902" y="4549477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7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وفاداری</a:t>
            </a:r>
            <a:endParaRPr lang="fa-IR" sz="1750" dirty="0"/>
          </a:p>
        </p:txBody>
      </p:sp>
      <p:sp>
        <p:nvSpPr>
          <p:cNvPr id="29" name="Text 22"/>
          <p:cNvSpPr/>
          <p:nvPr/>
        </p:nvSpPr>
        <p:spPr>
          <a:xfrm>
            <a:off x="847902" y="4933950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fa-IR" altLang="en-US" sz="14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افزایش ارزش ماندن در شبکه</a:t>
            </a:r>
            <a:endParaRPr lang="fa-IR" sz="1400" dirty="0"/>
          </a:p>
        </p:txBody>
      </p:sp>
      <p:sp>
        <p:nvSpPr>
          <p:cNvPr id="30" name="Shape 23"/>
          <p:cNvSpPr/>
          <p:nvPr/>
        </p:nvSpPr>
        <p:spPr>
          <a:xfrm>
            <a:off x="661475" y="5595045"/>
            <a:ext cx="10868745" cy="697508"/>
          </a:xfrm>
          <a:prstGeom prst="roundRect">
            <a:avLst>
              <a:gd name="adj" fmla="val 10848"/>
            </a:avLst>
          </a:prstGeom>
          <a:solidFill>
            <a:srgbClr val="D2DDF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552" y="5838130"/>
            <a:ext cx="225122" cy="18008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7167" y="5811639"/>
            <a:ext cx="1071297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fa-IR" altLang="en-US" sz="1400" b="1" dirty="0">
                <a:solidFill>
                  <a:srgbClr val="000000"/>
                </a:solidFill>
                <a:latin typeface="IRANSansFaNum Bold" pitchFamily="34" charset="0"/>
                <a:ea typeface="IRANSansFaNum Bold" pitchFamily="34" charset="-122"/>
                <a:cs typeface="IRANSansFaNum Bold" pitchFamily="34" charset="-120"/>
              </a:rPr>
              <a:t>هدف، فروش یک نرم‌افزار نیست؛ ایجاد یک دارایی دیجیتال جدید بر پایه شبکه پذیرندگان است.</a:t>
            </a:r>
            <a:endParaRPr lang="fa-IR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10297" y="529332"/>
            <a:ext cx="819923" cy="175022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69767" y="563860"/>
            <a:ext cx="1291399" cy="105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fa-IR" altLang="en-US" sz="700" dirty="0">
                <a:solidFill>
                  <a:srgbClr val="1B54DA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ارزش برای ذینفعان</a:t>
            </a:r>
            <a:endParaRPr lang="fa-IR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32334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225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تجربه‌ای ارزشمند برای پذیرنده و مشتری</a:t>
            </a:r>
            <a:endParaRPr lang="fa-IR" sz="2250" dirty="0"/>
          </a:p>
        </p:txBody>
      </p:sp>
      <p:sp>
        <p:nvSpPr>
          <p:cNvPr id="5" name="Shape 3"/>
          <p:cNvSpPr/>
          <p:nvPr/>
        </p:nvSpPr>
        <p:spPr>
          <a:xfrm>
            <a:off x="578530" y="1197471"/>
            <a:ext cx="5459772" cy="1183878"/>
          </a:xfrm>
          <a:prstGeom prst="roundRect">
            <a:avLst>
              <a:gd name="adj" fmla="val 7005"/>
            </a:avLst>
          </a:prstGeom>
          <a:solidFill>
            <a:srgbClr val="16FFBB"/>
          </a:solidFill>
          <a:ln/>
        </p:spPr>
      </p:sp>
      <p:sp>
        <p:nvSpPr>
          <p:cNvPr id="6" name="Text 4"/>
          <p:cNvSpPr/>
          <p:nvPr/>
        </p:nvSpPr>
        <p:spPr>
          <a:xfrm>
            <a:off x="693621" y="1267619"/>
            <a:ext cx="5229590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10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پذیرنده</a:t>
            </a:r>
            <a:endParaRPr lang="fa-IR" sz="1100" dirty="0"/>
          </a:p>
        </p:txBody>
      </p:sp>
      <p:sp>
        <p:nvSpPr>
          <p:cNvPr id="7" name="Text 5"/>
          <p:cNvSpPr/>
          <p:nvPr/>
        </p:nvSpPr>
        <p:spPr>
          <a:xfrm>
            <a:off x="693621" y="1517650"/>
            <a:ext cx="5229590" cy="839192"/>
          </a:xfrm>
          <a:prstGeom prst="rect">
            <a:avLst/>
          </a:prstGeom>
          <a:noFill/>
          <a:ln/>
        </p:spPr>
        <p:txBody>
          <a:bodyPr wrap="square" lIns="0" tIns="0" rIns="46073" bIns="0" rtlCol="0" anchor="t">
            <a:normAutofit/>
          </a:bodyPr>
          <a:lstStyle/>
          <a:p>
            <a:pPr rtl="1" algn="r" marL="182880" indent="-182880">
              <a:lnSpc>
                <a:spcPct val="107000"/>
              </a:lnSpc>
              <a:buSzPct val="100000"/>
              <a:buChar char="•"/>
            </a:pPr>
            <a:r>
              <a:rPr lang="fa-IR" altLang="en-US" sz="9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صفحه اختصاصی کسب‌وکار</a:t>
            </a:r>
            <a:endParaRPr lang="fa-IR" sz="900" dirty="0"/>
          </a:p>
          <a:p>
            <a:pPr rtl="1" algn="r" marL="182880" indent="-182880">
              <a:lnSpc>
                <a:spcPct val="107000"/>
              </a:lnSpc>
              <a:buSzPct val="100000"/>
              <a:buChar char="•"/>
            </a:pPr>
            <a:r>
              <a:rPr lang="fa-IR" altLang="en-US" sz="9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کاتالوگ محصول و خدمت</a:t>
            </a:r>
            <a:endParaRPr lang="fa-IR" sz="900" dirty="0"/>
          </a:p>
          <a:p>
            <a:pPr rtl="1" algn="r" marL="182880" indent="-182880">
              <a:lnSpc>
                <a:spcPct val="107000"/>
              </a:lnSpc>
              <a:buSzPct val="100000"/>
              <a:buChar char="•"/>
            </a:pPr>
            <a:r>
              <a:rPr lang="fa-IR" altLang="en-US" sz="9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کمپین و تخفیف</a:t>
            </a:r>
            <a:endParaRPr lang="fa-IR" sz="900" dirty="0"/>
          </a:p>
          <a:p>
            <a:pPr rtl="1" algn="r" marL="182880" indent="-182880">
              <a:lnSpc>
                <a:spcPct val="107000"/>
              </a:lnSpc>
              <a:buSzPct val="100000"/>
              <a:buChar char="•"/>
            </a:pPr>
            <a:r>
              <a:rPr lang="ar-SA" altLang="en-US" sz="9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قالب آماده AI Content</a:t>
            </a:r>
            <a:endParaRPr lang="fa-IR" sz="900" dirty="0"/>
          </a:p>
          <a:p>
            <a:pPr rtl="1" algn="r" marL="182880" indent="-182880">
              <a:lnSpc>
                <a:spcPct val="107000"/>
              </a:lnSpc>
              <a:buSzPct val="100000"/>
              <a:buChar char="•"/>
            </a:pPr>
            <a:r>
              <a:rPr lang="fa-IR" altLang="en-US" sz="9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گزارش عملکرد</a:t>
            </a:r>
            <a:endParaRPr lang="fa-IR" sz="900" dirty="0"/>
          </a:p>
        </p:txBody>
      </p:sp>
      <p:sp>
        <p:nvSpPr>
          <p:cNvPr id="8" name="Text 6"/>
          <p:cNvSpPr/>
          <p:nvPr/>
        </p:nvSpPr>
        <p:spPr>
          <a:xfrm>
            <a:off x="6242688" y="1267619"/>
            <a:ext cx="5293882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10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مشتری</a:t>
            </a:r>
            <a:endParaRPr lang="fa-IR" sz="1100" dirty="0"/>
          </a:p>
        </p:txBody>
      </p:sp>
      <p:sp>
        <p:nvSpPr>
          <p:cNvPr id="9" name="Text 7"/>
          <p:cNvSpPr/>
          <p:nvPr/>
        </p:nvSpPr>
        <p:spPr>
          <a:xfrm>
            <a:off x="6242688" y="1517650"/>
            <a:ext cx="5293882" cy="839192"/>
          </a:xfrm>
          <a:prstGeom prst="rect">
            <a:avLst/>
          </a:prstGeom>
          <a:noFill/>
          <a:ln/>
        </p:spPr>
        <p:txBody>
          <a:bodyPr wrap="square" lIns="0" tIns="0" rIns="46073" bIns="0" rtlCol="0" anchor="t">
            <a:normAutofit/>
          </a:bodyPr>
          <a:lstStyle/>
          <a:p>
            <a:pPr rtl="1" algn="r" marL="182880" indent="-182880">
              <a:lnSpc>
                <a:spcPct val="107000"/>
              </a:lnSpc>
              <a:buSzPct val="100000"/>
              <a:buChar char="•"/>
            </a:pPr>
            <a:r>
              <a:rPr lang="fa-IR" altLang="en-US" sz="9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کشف کسب‌وکار</a:t>
            </a:r>
            <a:endParaRPr lang="fa-IR" sz="900" dirty="0"/>
          </a:p>
          <a:p>
            <a:pPr rtl="1" algn="r" marL="182880" indent="-182880">
              <a:lnSpc>
                <a:spcPct val="107000"/>
              </a:lnSpc>
              <a:buSzPct val="100000"/>
              <a:buChar char="•"/>
            </a:pPr>
            <a:r>
              <a:rPr lang="fa-IR" altLang="en-US" sz="9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مشاهده پیشنهاد تخفیف</a:t>
            </a:r>
            <a:endParaRPr lang="fa-IR" sz="900" dirty="0"/>
          </a:p>
          <a:p>
            <a:pPr algn="r" marL="182880" indent="-182880">
              <a:lnSpc>
                <a:spcPct val="107000"/>
              </a:lnSpc>
              <a:buSzPct val="100000"/>
              <a:buChar char="•"/>
            </a:pPr>
            <a:r>
              <a:rPr lang="fa-IR" altLang="en-US" sz="9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QR / Coupon</a:t>
            </a:r>
            <a:endParaRPr lang="fa-IR" sz="900" dirty="0"/>
          </a:p>
          <a:p>
            <a:pPr rtl="1" algn="r" marL="182880" indent="-182880">
              <a:lnSpc>
                <a:spcPct val="107000"/>
              </a:lnSpc>
              <a:buSzPct val="100000"/>
              <a:buChar char="•"/>
            </a:pPr>
            <a:r>
              <a:rPr lang="fa-IR" altLang="en-US" sz="9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استفاده سریع</a:t>
            </a:r>
            <a:endParaRPr lang="fa-IR" sz="900" dirty="0"/>
          </a:p>
          <a:p>
            <a:pPr rtl="1" algn="r" marL="182880" indent="-182880">
              <a:lnSpc>
                <a:spcPct val="107000"/>
              </a:lnSpc>
              <a:buSzPct val="100000"/>
              <a:buChar char="•"/>
            </a:pPr>
            <a:r>
              <a:rPr lang="ar-SA" altLang="en-US" sz="9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سوابق استفاده</a:t>
            </a:r>
            <a:endParaRPr lang="fa-IR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2460228"/>
            <a:ext cx="8452035" cy="386834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263272" y="5409960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fa-IR" altLang="en-US" sz="19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اندازه‌گیری</a:t>
            </a:r>
            <a:endParaRPr lang="fa-IR" sz="1900" dirty="0"/>
          </a:p>
        </p:txBody>
      </p:sp>
      <p:sp>
        <p:nvSpPr>
          <p:cNvPr id="12" name="Text 9"/>
          <p:cNvSpPr/>
          <p:nvPr/>
        </p:nvSpPr>
        <p:spPr>
          <a:xfrm>
            <a:off x="4263096" y="5409960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fa-IR" altLang="en-US" sz="19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وارد کردن</a:t>
            </a:r>
            <a:endParaRPr lang="fa-IR" sz="1900" dirty="0"/>
          </a:p>
        </p:txBody>
      </p:sp>
      <p:sp>
        <p:nvSpPr>
          <p:cNvPr id="13" name="Text 10"/>
          <p:cNvSpPr/>
          <p:nvPr/>
        </p:nvSpPr>
        <p:spPr>
          <a:xfrm>
            <a:off x="6252051" y="5409960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fa-IR" altLang="en-US" sz="19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پیشنهاد</a:t>
            </a:r>
            <a:endParaRPr lang="fa-IR" sz="1900" dirty="0"/>
          </a:p>
        </p:txBody>
      </p:sp>
      <p:sp>
        <p:nvSpPr>
          <p:cNvPr id="14" name="Text 11"/>
          <p:cNvSpPr/>
          <p:nvPr/>
        </p:nvSpPr>
        <p:spPr>
          <a:xfrm>
            <a:off x="8284481" y="5409960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fa-IR" altLang="en-US" sz="19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کشف</a:t>
            </a:r>
            <a:endParaRPr lang="fa-IR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5441" y="770830"/>
            <a:ext cx="964779" cy="287139"/>
          </a:xfrm>
          <a:prstGeom prst="roundRect">
            <a:avLst>
              <a:gd name="adj" fmla="val 22118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10069261" y="827484"/>
            <a:ext cx="134755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fa-IR" altLang="en-US" sz="115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تجربه واقعی</a:t>
            </a:r>
            <a:endParaRPr lang="fa-IR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335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370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هر پیشنهاد قابل مشاهده، استفاده و اندازه‌گیری است</a:t>
            </a:r>
            <a:endParaRPr lang="fa-IR" sz="3700" dirty="0"/>
          </a:p>
        </p:txBody>
      </p:sp>
      <p:sp>
        <p:nvSpPr>
          <p:cNvPr id="5" name="Text 3"/>
          <p:cNvSpPr/>
          <p:nvPr/>
        </p:nvSpPr>
        <p:spPr>
          <a:xfrm>
            <a:off x="11152206" y="2007691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401" y="2303562"/>
            <a:ext cx="5339820" cy="254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7" name="Text 5"/>
          <p:cNvSpPr/>
          <p:nvPr/>
        </p:nvSpPr>
        <p:spPr>
          <a:xfrm>
            <a:off x="6190401" y="244881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8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ورود به Mini App</a:t>
            </a:r>
            <a:endParaRPr lang="ar-SA" sz="1850" dirty="0"/>
          </a:p>
        </p:txBody>
      </p:sp>
      <p:sp>
        <p:nvSpPr>
          <p:cNvPr id="8" name="Text 6"/>
          <p:cNvSpPr/>
          <p:nvPr/>
        </p:nvSpPr>
        <p:spPr>
          <a:xfrm>
            <a:off x="5623380" y="2007691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2303562"/>
            <a:ext cx="5339919" cy="254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2448818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8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پیدا کردن پیشنهاد</a:t>
            </a:r>
            <a:endParaRPr lang="fa-IR" sz="1850" dirty="0"/>
          </a:p>
        </p:txBody>
      </p:sp>
      <p:sp>
        <p:nvSpPr>
          <p:cNvPr id="11" name="Text 9"/>
          <p:cNvSpPr/>
          <p:nvPr/>
        </p:nvSpPr>
        <p:spPr>
          <a:xfrm>
            <a:off x="11152206" y="307478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401" y="3370659"/>
            <a:ext cx="5339820" cy="254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3" name="Text 11"/>
          <p:cNvSpPr/>
          <p:nvPr/>
        </p:nvSpPr>
        <p:spPr>
          <a:xfrm>
            <a:off x="6190401" y="3515916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8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مشاهده شرایط</a:t>
            </a:r>
            <a:endParaRPr lang="fa-IR" sz="1850" dirty="0"/>
          </a:p>
        </p:txBody>
      </p:sp>
      <p:sp>
        <p:nvSpPr>
          <p:cNvPr id="14" name="Text 12"/>
          <p:cNvSpPr/>
          <p:nvPr/>
        </p:nvSpPr>
        <p:spPr>
          <a:xfrm>
            <a:off x="5623380" y="307478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04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3370659"/>
            <a:ext cx="5339919" cy="254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3515916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8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دریافت QR / Coupon</a:t>
            </a:r>
            <a:endParaRPr lang="fa-IR" sz="1850" dirty="0"/>
          </a:p>
        </p:txBody>
      </p:sp>
      <p:sp>
        <p:nvSpPr>
          <p:cNvPr id="17" name="Text 15"/>
          <p:cNvSpPr/>
          <p:nvPr/>
        </p:nvSpPr>
        <p:spPr>
          <a:xfrm>
            <a:off x="11152206" y="414188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05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90401" y="4437757"/>
            <a:ext cx="5339820" cy="254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401" y="4583013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8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اسکن توسط پذیرنده</a:t>
            </a:r>
            <a:endParaRPr lang="fa-IR" sz="1850" dirty="0"/>
          </a:p>
        </p:txBody>
      </p:sp>
      <p:sp>
        <p:nvSpPr>
          <p:cNvPr id="20" name="Text 18"/>
          <p:cNvSpPr/>
          <p:nvPr/>
        </p:nvSpPr>
        <p:spPr>
          <a:xfrm>
            <a:off x="5623380" y="414188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06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61475" y="4437757"/>
            <a:ext cx="5339919" cy="254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4583013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8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اعتبارسنجی</a:t>
            </a:r>
            <a:endParaRPr lang="fa-IR" sz="1850" dirty="0"/>
          </a:p>
        </p:txBody>
      </p:sp>
      <p:sp>
        <p:nvSpPr>
          <p:cNvPr id="23" name="Text 21"/>
          <p:cNvSpPr/>
          <p:nvPr/>
        </p:nvSpPr>
        <p:spPr>
          <a:xfrm>
            <a:off x="11152206" y="520898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07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190401" y="5504855"/>
            <a:ext cx="5339820" cy="254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5" name="Text 23"/>
          <p:cNvSpPr/>
          <p:nvPr/>
        </p:nvSpPr>
        <p:spPr>
          <a:xfrm>
            <a:off x="6190401" y="5650111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8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ثبت مصرف</a:t>
            </a:r>
            <a:endParaRPr lang="ar-SA" sz="1850" dirty="0"/>
          </a:p>
        </p:txBody>
      </p:sp>
      <p:sp>
        <p:nvSpPr>
          <p:cNvPr id="26" name="Text 24"/>
          <p:cNvSpPr/>
          <p:nvPr/>
        </p:nvSpPr>
        <p:spPr>
          <a:xfrm>
            <a:off x="5623380" y="520898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08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61475" y="5504855"/>
            <a:ext cx="5339919" cy="254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8" name="Text 26"/>
          <p:cNvSpPr/>
          <p:nvPr/>
        </p:nvSpPr>
        <p:spPr>
          <a:xfrm>
            <a:off x="661475" y="5650111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8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ثبت نتیجه در داشبورد</a:t>
            </a:r>
            <a:endParaRPr lang="fa-IR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22282" y="583307"/>
            <a:ext cx="1007938" cy="242292"/>
          </a:xfrm>
          <a:prstGeom prst="roundRect">
            <a:avLst>
              <a:gd name="adj" fmla="val 22117"/>
            </a:avLst>
          </a:prstGeom>
          <a:noFill/>
          <a:ln w="6350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08342" y="631130"/>
            <a:ext cx="142623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fa-IR" altLang="en-US" sz="1000" dirty="0">
                <a:solidFill>
                  <a:srgbClr val="1B54DA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کانال ارائه تجربه</a:t>
            </a:r>
            <a:endParaRPr lang="fa-IR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9376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ar-SA" altLang="en-US" sz="310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Mini App در بله</a:t>
            </a:r>
            <a:endParaRPr lang="ar-SA" sz="3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64035"/>
            <a:ext cx="6928470" cy="39261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85421" y="1714103"/>
            <a:ext cx="355104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55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مزیت‌های کلیدی</a:t>
            </a:r>
            <a:endParaRPr lang="fa-IR" sz="1550" dirty="0"/>
          </a:p>
        </p:txBody>
      </p:sp>
      <p:sp>
        <p:nvSpPr>
          <p:cNvPr id="7" name="Text 4"/>
          <p:cNvSpPr/>
          <p:nvPr/>
        </p:nvSpPr>
        <p:spPr>
          <a:xfrm>
            <a:off x="7985421" y="2097782"/>
            <a:ext cx="3551049" cy="799505"/>
          </a:xfrm>
          <a:prstGeom prst="rect">
            <a:avLst/>
          </a:prstGeom>
          <a:noFill/>
          <a:ln/>
        </p:spPr>
        <p:txBody>
          <a:bodyPr wrap="square" lIns="0" tIns="0" rIns="63794" bIns="0" rtlCol="0" anchor="t">
            <a:normAutofit/>
          </a:bodyPr>
          <a:lstStyle/>
          <a:p>
            <a:pPr rtl="1" algn="r" marL="254000" indent="-254000">
              <a:lnSpc>
                <a:spcPct val="123000"/>
              </a:lnSpc>
              <a:buSzPct val="100000"/>
              <a:buChar char="•"/>
            </a:pPr>
            <a:r>
              <a:rPr lang="fa-IR" altLang="en-US" sz="125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دسترسی ساده و Mobile First</a:t>
            </a:r>
            <a:endParaRPr lang="fa-IR" sz="1250" dirty="0"/>
          </a:p>
          <a:p>
            <a:pPr rtl="1" algn="r" marL="254000" indent="-254000">
              <a:lnSpc>
                <a:spcPct val="123000"/>
              </a:lnSpc>
              <a:buSzPct val="100000"/>
              <a:buChar char="•"/>
            </a:pPr>
            <a:r>
              <a:rPr lang="fa-IR" altLang="en-US" sz="125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کاهش اصطکاک برای کاربر</a:t>
            </a:r>
            <a:endParaRPr lang="fa-IR" sz="1250" dirty="0"/>
          </a:p>
          <a:p>
            <a:pPr rtl="1" algn="r" marL="254000" indent="-254000">
              <a:lnSpc>
                <a:spcPct val="123000"/>
              </a:lnSpc>
              <a:buSzPct val="100000"/>
              <a:buChar char="•"/>
            </a:pPr>
            <a:r>
              <a:rPr lang="fa-IR" altLang="en-US" sz="125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تجربه یکپارچه</a:t>
            </a:r>
            <a:endParaRPr lang="fa-IR" sz="1250" dirty="0"/>
          </a:p>
        </p:txBody>
      </p:sp>
      <p:sp>
        <p:nvSpPr>
          <p:cNvPr id="8" name="Text 5"/>
          <p:cNvSpPr/>
          <p:nvPr/>
        </p:nvSpPr>
        <p:spPr>
          <a:xfrm>
            <a:off x="7985421" y="3031827"/>
            <a:ext cx="355104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55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اصل معماری</a:t>
            </a:r>
            <a:endParaRPr lang="fa-IR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6372" y="3413224"/>
            <a:ext cx="3570099" cy="2732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82961" y="3432274"/>
            <a:ext cx="335351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Bale Mini App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6372" y="3917454"/>
            <a:ext cx="3570099" cy="2732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82961" y="3936504"/>
            <a:ext cx="335351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API / Integration Layer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6372" y="4421684"/>
            <a:ext cx="3570099" cy="2732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82961" y="4440734"/>
            <a:ext cx="335351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Core Ecosystem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66372" y="4925913"/>
            <a:ext cx="3570099" cy="2732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182961" y="4944963"/>
            <a:ext cx="335351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PSP / Identity / AI / Reporting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7985421" y="5331420"/>
            <a:ext cx="3551049" cy="791964"/>
          </a:xfrm>
          <a:prstGeom prst="roundRect">
            <a:avLst>
              <a:gd name="adj" fmla="val 8458"/>
            </a:avLst>
          </a:prstGeom>
          <a:solidFill>
            <a:srgbClr val="D2DDF9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44862" y="5524897"/>
            <a:ext cx="199325" cy="15944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503628" y="5492254"/>
            <a:ext cx="2873402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3000"/>
              </a:lnSpc>
              <a:buNone/>
            </a:pPr>
            <a:r>
              <a:rPr lang="fa-IR" altLang="en-US" sz="1250" b="1" dirty="0">
                <a:solidFill>
                  <a:srgbClr val="000000"/>
                </a:solidFill>
                <a:latin typeface="IRANSansFaNum Bold" pitchFamily="34" charset="0"/>
                <a:ea typeface="IRANSansFaNum Bold" pitchFamily="34" charset="-122"/>
                <a:cs typeface="IRANSansFaNum Bold" pitchFamily="34" charset="-120"/>
              </a:rPr>
              <a:t>بله کانال ارائه تجربه است؛ هسته کسب‌وکار باید مستقل و قابل توسعه باقی بماند.</a:t>
            </a:r>
            <a:endParaRPr lang="fa-IR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639953" y="520105"/>
            <a:ext cx="890268" cy="237827"/>
          </a:xfrm>
          <a:prstGeom prst="roundRect">
            <a:avLst>
              <a:gd name="adj" fmla="val 22115"/>
            </a:avLst>
          </a:prstGeom>
          <a:solidFill>
            <a:srgbClr val="D2DDF9"/>
          </a:solidFill>
          <a:ln/>
        </p:spPr>
      </p:sp>
      <p:sp>
        <p:nvSpPr>
          <p:cNvPr id="4" name="Text 1"/>
          <p:cNvSpPr/>
          <p:nvPr/>
        </p:nvSpPr>
        <p:spPr>
          <a:xfrm>
            <a:off x="10124226" y="567035"/>
            <a:ext cx="1312135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fa-IR" altLang="en-US" sz="95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اعتماد و کنترل</a:t>
            </a:r>
            <a:endParaRPr lang="fa-IR" sz="950" dirty="0"/>
          </a:p>
        </p:txBody>
      </p:sp>
      <p:sp>
        <p:nvSpPr>
          <p:cNvPr id="5" name="Text 2"/>
          <p:cNvSpPr/>
          <p:nvPr/>
        </p:nvSpPr>
        <p:spPr>
          <a:xfrm>
            <a:off x="5233360" y="809724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305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اکوسیستم بدون اعتماد، مقیاس‌پذیر نیست</a:t>
            </a:r>
            <a:endParaRPr lang="fa-IR" sz="3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493242"/>
            <a:ext cx="6296860" cy="939205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77596" y="1845469"/>
            <a:ext cx="234746" cy="2347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08874" y="1668760"/>
            <a:ext cx="534666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5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احراز پذیرنده</a:t>
            </a:r>
            <a:endParaRPr lang="fa-IR" sz="1500" dirty="0"/>
          </a:p>
        </p:txBody>
      </p:sp>
      <p:sp>
        <p:nvSpPr>
          <p:cNvPr id="9" name="Text 4"/>
          <p:cNvSpPr/>
          <p:nvPr/>
        </p:nvSpPr>
        <p:spPr>
          <a:xfrm>
            <a:off x="5408874" y="1991023"/>
            <a:ext cx="534666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White List / PSP Verification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2562027"/>
            <a:ext cx="6296860" cy="93920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7596" y="2914253"/>
            <a:ext cx="234746" cy="23475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408874" y="2737545"/>
            <a:ext cx="534666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5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کنترل محتوا</a:t>
            </a:r>
            <a:endParaRPr lang="fa-IR" sz="1500" dirty="0"/>
          </a:p>
        </p:txBody>
      </p:sp>
      <p:sp>
        <p:nvSpPr>
          <p:cNvPr id="13" name="Text 6"/>
          <p:cNvSpPr/>
          <p:nvPr/>
        </p:nvSpPr>
        <p:spPr>
          <a:xfrm>
            <a:off x="5408874" y="3059807"/>
            <a:ext cx="534666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Draft → Review → Approve → Publish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33360" y="3630811"/>
            <a:ext cx="6296860" cy="939205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77596" y="3983038"/>
            <a:ext cx="234746" cy="234752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408874" y="3806329"/>
            <a:ext cx="534666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5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احراز مشتری</a:t>
            </a:r>
            <a:endParaRPr lang="fa-IR" sz="1500" dirty="0"/>
          </a:p>
        </p:txBody>
      </p:sp>
      <p:sp>
        <p:nvSpPr>
          <p:cNvPr id="17" name="Text 8"/>
          <p:cNvSpPr/>
          <p:nvPr/>
        </p:nvSpPr>
        <p:spPr>
          <a:xfrm>
            <a:off x="5408874" y="4128591"/>
            <a:ext cx="534666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Identity / Secure QR</a:t>
            </a:r>
            <a:endParaRPr lang="en-US" sz="12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33360" y="4699595"/>
            <a:ext cx="6296860" cy="939205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077596" y="5051822"/>
            <a:ext cx="234746" cy="234752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5408874" y="4875113"/>
            <a:ext cx="534666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5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قابلیت ردیابی</a:t>
            </a:r>
            <a:endParaRPr lang="fa-IR" sz="1500" dirty="0"/>
          </a:p>
        </p:txBody>
      </p:sp>
      <p:sp>
        <p:nvSpPr>
          <p:cNvPr id="21" name="Text 10"/>
          <p:cNvSpPr/>
          <p:nvPr/>
        </p:nvSpPr>
        <p:spPr>
          <a:xfrm>
            <a:off x="5408874" y="5197376"/>
            <a:ext cx="534666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Audit Log / Redemption Log / Admin Actions</a:t>
            </a:r>
            <a:endParaRPr lang="en-US" sz="1200" dirty="0"/>
          </a:p>
        </p:txBody>
      </p:sp>
      <p:sp>
        <p:nvSpPr>
          <p:cNvPr id="22" name="Shape 11"/>
          <p:cNvSpPr/>
          <p:nvPr/>
        </p:nvSpPr>
        <p:spPr>
          <a:xfrm>
            <a:off x="5233360" y="5784552"/>
            <a:ext cx="6296860" cy="553244"/>
          </a:xfrm>
          <a:prstGeom prst="roundRect">
            <a:avLst>
              <a:gd name="adj" fmla="val 11883"/>
            </a:avLst>
          </a:prstGeom>
          <a:solidFill>
            <a:srgbClr val="FCF2B5"/>
          </a:solidFill>
          <a:ln/>
        </p:spPr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89825" y="5968702"/>
            <a:ext cx="195654" cy="156468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132358" y="5953224"/>
            <a:ext cx="6241398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fa-IR" altLang="en-US" sz="1200" b="1" dirty="0">
                <a:solidFill>
                  <a:srgbClr val="000000"/>
                </a:solidFill>
                <a:latin typeface="IRANSansFaNum Bold" pitchFamily="34" charset="0"/>
                <a:ea typeface="IRANSansFaNum Bold" pitchFamily="34" charset="-122"/>
                <a:cs typeface="IRANSansFaNum Bold" pitchFamily="34" charset="-120"/>
              </a:rPr>
              <a:t>هیچ محتوای پذیرنده‌ای نباید بدون کنترل و قابلیت ردیابی وارد چرخه انتشار شود.</a:t>
            </a:r>
            <a:endParaRPr lang="fa-IR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577439" cy="143470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073718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fa-IR" altLang="en-US" sz="550" dirty="0">
                <a:solidFill>
                  <a:srgbClr val="1B54DA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MVP و معماری</a:t>
            </a:r>
            <a:endParaRPr lang="fa-IR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85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ماژولار و قابل توسعه؛ بدون تحمیل پیچیدگی از روز اول</a:t>
            </a:r>
            <a:endParaRPr lang="fa-IR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2462907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90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اجزای MVP</a:t>
            </a:r>
            <a:endParaRPr lang="fa-IR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895" y="2668339"/>
            <a:ext cx="141681" cy="1416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8549" y="2663627"/>
            <a:ext cx="50120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Mini App</a:t>
            </a:r>
            <a:endParaRPr lang="en-US" sz="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895" y="3051026"/>
            <a:ext cx="141681" cy="1416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8549" y="3046313"/>
            <a:ext cx="50120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7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احراز پذیرنده</a:t>
            </a:r>
            <a:endParaRPr lang="fa-IR" sz="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6895" y="3433713"/>
            <a:ext cx="141681" cy="1416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8549" y="3429000"/>
            <a:ext cx="50120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7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صفحه کسب‌وکار</a:t>
            </a:r>
            <a:endParaRPr lang="fa-IR" sz="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6895" y="3816400"/>
            <a:ext cx="141681" cy="1416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8549" y="3811687"/>
            <a:ext cx="50120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7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کمپین و QR Coupon</a:t>
            </a:r>
            <a:endParaRPr lang="fa-IR" sz="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6895" y="4199086"/>
            <a:ext cx="141681" cy="14168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8549" y="4194373"/>
            <a:ext cx="50120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Redemption</a:t>
            </a:r>
            <a:endParaRPr lang="en-US" sz="7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6895" y="4581773"/>
            <a:ext cx="141681" cy="14168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8549" y="4577060"/>
            <a:ext cx="50120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7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پنل مدیریت و تأیید محتوا</a:t>
            </a:r>
            <a:endParaRPr lang="fa-IR" sz="7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6895" y="4964460"/>
            <a:ext cx="141681" cy="14168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68549" y="4959747"/>
            <a:ext cx="50120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ar-SA" altLang="en-US" sz="70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Dashboard و Audit Log</a:t>
            </a:r>
            <a:endParaRPr lang="ar-SA" sz="700" dirty="0"/>
          </a:p>
        </p:txBody>
      </p:sp>
      <p:sp>
        <p:nvSpPr>
          <p:cNvPr id="20" name="Text 11"/>
          <p:cNvSpPr/>
          <p:nvPr/>
        </p:nvSpPr>
        <p:spPr>
          <a:xfrm>
            <a:off x="6217487" y="1095474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90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لایه‌های معماری</a:t>
            </a:r>
            <a:endParaRPr lang="fa-IR" sz="9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7487" y="1296194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64985" y="519807"/>
            <a:ext cx="565235" cy="143470"/>
          </a:xfrm>
          <a:prstGeom prst="roundRect">
            <a:avLst>
              <a:gd name="adj" fmla="val 22134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10412053" y="548084"/>
            <a:ext cx="1061515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fa-IR" altLang="en-US" sz="55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پیشنهاد اجرایی</a:t>
            </a:r>
            <a:endParaRPr lang="fa-IR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85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کوچک شروع کنیم، سریع اعتبارسنجی کنیم</a:t>
            </a:r>
            <a:endParaRPr lang="fa-IR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48246"/>
            <a:ext cx="10868745" cy="48909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52069" y="1310170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ar-SA" altLang="en-US" sz="18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فاز 0</a:t>
            </a:r>
            <a:endParaRPr lang="ar-SA" sz="1850" dirty="0"/>
          </a:p>
        </p:txBody>
      </p:sp>
      <p:sp>
        <p:nvSpPr>
          <p:cNvPr id="7" name="Text 4"/>
          <p:cNvSpPr/>
          <p:nvPr/>
        </p:nvSpPr>
        <p:spPr>
          <a:xfrm>
            <a:off x="7552069" y="1687706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78000"/>
              </a:lnSpc>
              <a:buNone/>
            </a:pPr>
            <a:r>
              <a:rPr lang="fa-IR" altLang="en-US" sz="145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اعتبارسنجی پذیرنده، مشتری و حقوقی</a:t>
            </a:r>
            <a:endParaRPr lang="fa-IR" sz="1450" dirty="0"/>
          </a:p>
        </p:txBody>
      </p:sp>
      <p:sp>
        <p:nvSpPr>
          <p:cNvPr id="8" name="Text 5"/>
          <p:cNvSpPr/>
          <p:nvPr/>
        </p:nvSpPr>
        <p:spPr>
          <a:xfrm>
            <a:off x="5137988" y="5066590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ar-SA" altLang="en-US" sz="18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فاز 1</a:t>
            </a:r>
            <a:endParaRPr lang="ar-SA" sz="1850" dirty="0"/>
          </a:p>
        </p:txBody>
      </p:sp>
      <p:sp>
        <p:nvSpPr>
          <p:cNvPr id="9" name="Text 6"/>
          <p:cNvSpPr/>
          <p:nvPr/>
        </p:nvSpPr>
        <p:spPr>
          <a:xfrm>
            <a:off x="5137988" y="5444126"/>
            <a:ext cx="1912454" cy="176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fa-IR" altLang="en-US" sz="145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Pilot و MVP کنترل‌شده</a:t>
            </a:r>
            <a:endParaRPr lang="fa-IR" sz="1450" dirty="0"/>
          </a:p>
        </p:txBody>
      </p:sp>
      <p:sp>
        <p:nvSpPr>
          <p:cNvPr id="10" name="Text 7"/>
          <p:cNvSpPr/>
          <p:nvPr/>
        </p:nvSpPr>
        <p:spPr>
          <a:xfrm>
            <a:off x="2817961" y="1273592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ar-SA" altLang="en-US" sz="185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فاز 2</a:t>
            </a:r>
            <a:endParaRPr lang="ar-SA" sz="1850" dirty="0"/>
          </a:p>
        </p:txBody>
      </p:sp>
      <p:sp>
        <p:nvSpPr>
          <p:cNvPr id="11" name="Text 8"/>
          <p:cNvSpPr/>
          <p:nvPr/>
        </p:nvSpPr>
        <p:spPr>
          <a:xfrm>
            <a:off x="2817961" y="1651128"/>
            <a:ext cx="1902004" cy="35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78000"/>
              </a:lnSpc>
              <a:buNone/>
            </a:pPr>
            <a:r>
              <a:rPr lang="fa-IR" altLang="en-US" sz="1450" dirty="0">
                <a:solidFill>
                  <a:srgbClr val="404155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مقیاس‌پذیری با AI و شخصی‌سازی</a:t>
            </a:r>
            <a:endParaRPr lang="fa-IR" sz="1450" dirty="0"/>
          </a:p>
        </p:txBody>
      </p:sp>
      <p:sp>
        <p:nvSpPr>
          <p:cNvPr id="12" name="Text 9"/>
          <p:cNvSpPr/>
          <p:nvPr/>
        </p:nvSpPr>
        <p:spPr>
          <a:xfrm>
            <a:off x="661475" y="6039545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fa-IR" altLang="en-US" sz="900" b="1" dirty="0">
                <a:solidFill>
                  <a:srgbClr val="1B1B27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KPIهای Pilot</a:t>
            </a:r>
            <a:endParaRPr lang="fa-IR" sz="900" dirty="0"/>
          </a:p>
        </p:txBody>
      </p:sp>
      <p:sp>
        <p:nvSpPr>
          <p:cNvPr id="13" name="Shape 10"/>
          <p:cNvSpPr/>
          <p:nvPr/>
        </p:nvSpPr>
        <p:spPr>
          <a:xfrm>
            <a:off x="3344680" y="6240264"/>
            <a:ext cx="2635879" cy="349250"/>
          </a:xfrm>
          <a:prstGeom prst="roundRect">
            <a:avLst>
              <a:gd name="adj" fmla="val 1136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45483" y="6341070"/>
            <a:ext cx="243427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9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پذیرندگان فعال</a:t>
            </a:r>
            <a:endParaRPr lang="fa-IR" sz="900" dirty="0"/>
          </a:p>
        </p:txBody>
      </p:sp>
      <p:sp>
        <p:nvSpPr>
          <p:cNvPr id="15" name="Shape 12"/>
          <p:cNvSpPr/>
          <p:nvPr/>
        </p:nvSpPr>
        <p:spPr>
          <a:xfrm>
            <a:off x="661475" y="6240264"/>
            <a:ext cx="2635978" cy="349250"/>
          </a:xfrm>
          <a:prstGeom prst="roundRect">
            <a:avLst>
              <a:gd name="adj" fmla="val 1136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2279" y="6341070"/>
            <a:ext cx="243437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9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کاربران فعال</a:t>
            </a:r>
            <a:endParaRPr lang="fa-IR" sz="900" dirty="0"/>
          </a:p>
        </p:txBody>
      </p:sp>
      <p:sp>
        <p:nvSpPr>
          <p:cNvPr id="17" name="Shape 14"/>
          <p:cNvSpPr/>
          <p:nvPr/>
        </p:nvSpPr>
        <p:spPr>
          <a:xfrm>
            <a:off x="3344680" y="6636742"/>
            <a:ext cx="2635879" cy="349250"/>
          </a:xfrm>
          <a:prstGeom prst="roundRect">
            <a:avLst>
              <a:gd name="adj" fmla="val 1136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45483" y="6737548"/>
            <a:ext cx="243427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9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کمپین فعال</a:t>
            </a:r>
            <a:endParaRPr lang="fa-IR" sz="900" dirty="0"/>
          </a:p>
        </p:txBody>
      </p:sp>
      <p:sp>
        <p:nvSpPr>
          <p:cNvPr id="19" name="Shape 16"/>
          <p:cNvSpPr/>
          <p:nvPr/>
        </p:nvSpPr>
        <p:spPr>
          <a:xfrm>
            <a:off x="661475" y="6636742"/>
            <a:ext cx="2635978" cy="349250"/>
          </a:xfrm>
          <a:prstGeom prst="roundRect">
            <a:avLst>
              <a:gd name="adj" fmla="val 1136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2279" y="6737548"/>
            <a:ext cx="243437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9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نرخ استفاده از کمپین</a:t>
            </a:r>
            <a:endParaRPr lang="fa-IR" sz="900" dirty="0"/>
          </a:p>
        </p:txBody>
      </p:sp>
      <p:sp>
        <p:nvSpPr>
          <p:cNvPr id="21" name="Shape 18"/>
          <p:cNvSpPr/>
          <p:nvPr/>
        </p:nvSpPr>
        <p:spPr>
          <a:xfrm>
            <a:off x="3344680" y="7033220"/>
            <a:ext cx="2635879" cy="349250"/>
          </a:xfrm>
          <a:prstGeom prst="roundRect">
            <a:avLst>
              <a:gd name="adj" fmla="val 1136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45483" y="7134027"/>
            <a:ext cx="243427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Repeat Usage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61475" y="7033220"/>
            <a:ext cx="2635978" cy="349250"/>
          </a:xfrm>
          <a:prstGeom prst="roundRect">
            <a:avLst>
              <a:gd name="adj" fmla="val 1136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2279" y="7134027"/>
            <a:ext cx="243437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04155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Merchant Participation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149424" y="5992316"/>
            <a:ext cx="5455208" cy="1443236"/>
          </a:xfrm>
          <a:prstGeom prst="roundRect">
            <a:avLst>
              <a:gd name="adj" fmla="val 4715"/>
            </a:avLst>
          </a:prstGeom>
          <a:solidFill>
            <a:srgbClr val="091231"/>
          </a:solidFill>
          <a:ln/>
        </p:spPr>
      </p:sp>
      <p:sp>
        <p:nvSpPr>
          <p:cNvPr id="26" name="Text 23"/>
          <p:cNvSpPr/>
          <p:nvPr/>
        </p:nvSpPr>
        <p:spPr>
          <a:xfrm>
            <a:off x="6243878" y="6039545"/>
            <a:ext cx="52663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900" b="1" dirty="0">
                <a:solidFill>
                  <a:srgbClr val="FFFFFF"/>
                </a:solidFill>
                <a:latin typeface="B Titr Bold" pitchFamily="34" charset="0"/>
                <a:ea typeface="B Titr Bold" pitchFamily="34" charset="-122"/>
                <a:cs typeface="B Titr Bold" pitchFamily="34" charset="-120"/>
              </a:rPr>
              <a:t>تصمیم پیشنهادی</a:t>
            </a:r>
            <a:endParaRPr lang="fa-IR" sz="900" dirty="0"/>
          </a:p>
        </p:txBody>
      </p:sp>
      <p:sp>
        <p:nvSpPr>
          <p:cNvPr id="27" name="Text 24"/>
          <p:cNvSpPr/>
          <p:nvPr/>
        </p:nvSpPr>
        <p:spPr>
          <a:xfrm>
            <a:off x="5634293" y="6234410"/>
            <a:ext cx="587588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700" dirty="0">
                <a:solidFill>
                  <a:srgbClr val="FFFFFF"/>
                </a:solidFill>
                <a:latin typeface="IRANSansFaNum" pitchFamily="34" charset="0"/>
                <a:ea typeface="IRANSansFaNum" pitchFamily="34" charset="-122"/>
                <a:cs typeface="IRANSansFaNum" pitchFamily="34" charset="-120"/>
              </a:rPr>
              <a:t>اجرای یک Pilot کنترل‌شده و قابل اندازه‌گیری و تصمیم‌گیری درباره توسعه سراسری بر اساس نتایج واقعی</a:t>
            </a:r>
            <a:endParaRPr lang="fa-IR" sz="700" dirty="0"/>
          </a:p>
        </p:txBody>
      </p:sp>
      <p:sp>
        <p:nvSpPr>
          <p:cNvPr id="28" name="Shape 25"/>
          <p:cNvSpPr/>
          <p:nvPr/>
        </p:nvSpPr>
        <p:spPr>
          <a:xfrm>
            <a:off x="6243878" y="6424513"/>
            <a:ext cx="5266300" cy="127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5634293" y="6513909"/>
            <a:ext cx="587588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700" b="1" dirty="0">
                <a:solidFill>
                  <a:srgbClr val="FFFFFF"/>
                </a:solidFill>
                <a:latin typeface="IRANSansFaNum Bold" pitchFamily="34" charset="0"/>
                <a:ea typeface="IRANSansFaNum Bold" pitchFamily="34" charset="-122"/>
                <a:cs typeface="IRANSansFaNum Bold" pitchFamily="34" charset="-120"/>
              </a:rPr>
              <a:t>ابتدا اثربخشی شبکه را اثبات کنیم؛ سپس مقیاس را افزایش دهیم.</a:t>
            </a:r>
            <a:endParaRPr lang="fa-IR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2026-09-13T04:43:53Z</dcterms:created>
  <dcterms:modified xsi:type="dcterms:W3CDTF">2026-09-13T04:43:53Z</dcterms:modified>
</cp:coreProperties>
</file>